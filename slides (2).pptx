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embeddedFontLst>
    <p:embeddedFont>
      <p:font typeface="Be Vietnam Pro" pitchFamily="34" charset="0"/>
      <p:regular r:id="rId16"/>
      <p:bold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the task is to rank customers by their likelihood of owning caravan insurance, not just to classify them as yes or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this is a ranking problem. The goal is to place high-probability customers at the top of the campaign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no information from validation or test leaks into training or variable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Neighborhood variables are significant but weaker than premium and policy-count variables. They describe the area, not the individual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77 − 6 + 81 = 152. The 81 binary columns are 41 from the five IV variables and 40 from MOSTYPE.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8 + 28 + 16 + 16 + 8 = 76 configurations. Selection uses validation only; the test set is not 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validation has only about 70 positives, so AP is noisy. Differences below 0.01 should not be interpreted.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Bold marks each model's best value. Differences between experiments are often smaller than sampling error, so treat them as suggestions, not firm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honest results of the pipeline, not the best achievable. The model was refit on all 5,822 customers before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D2430"/>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D2430"/>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D2430"/>
                </a:solidFill>
                <a:latin typeface="Be Vietnam Pro" pitchFamily="34" charset="0"/>
                <a:ea typeface="Be Vietnam Pro" pitchFamily="34" charset="-122"/>
                <a:cs typeface="Be Vietnam Pr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20"/>
            <a:ext cx="10566400" cy="4424680"/>
          </a:xfrm>
          <a:prstGeom prst="rect">
            <a:avLst/>
          </a:prstGeom>
          <a:noFill/>
          <a:ln/>
        </p:spPr>
        <p:txBody>
          <a:bodyPr wrap="square" lIns="0" tIns="0" rIns="0" bIns="0" rtlCol="0" anchor="t"/>
          <a:lstStyle>
            <a:lvl1pPr algn="l" indent="0" marL="0">
              <a:lnSpc>
                <a:spcPct val="140000"/>
              </a:lnSpc>
              <a:buNone/>
              <a:defRPr lang="en-US" sz="1600" dirty="0">
                <a:solidFill>
                  <a:srgbClr val="1D2430"/>
                </a:solidFill>
                <a:latin typeface="Be Vietnam Pro" pitchFamily="34" charset="0"/>
                <a:ea typeface="Be Vietnam Pro" pitchFamily="34" charset="-122"/>
                <a:cs typeface="Be Vietnam Pr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CCD"/>
                </a:solidFill>
                <a:latin typeface="Be Vietnam Pro" pitchFamily="34" charset="0"/>
                <a:ea typeface="Be Vietnam Pro" pitchFamily="34" charset="-122"/>
                <a:cs typeface="Be Vietnam Pro" pitchFamily="34" charset="-120"/>
              </a:rPr>
              <a:t>Statistical Learning · DS66A · Group 5</a:t>
            </a:r>
            <a:endParaRPr lang="en-US" sz="1200" dirty="0"/>
          </a:p>
        </p:txBody>
      </p:sp>
      <p:sp>
        <p:nvSpPr>
          <p:cNvPr id="3" name="Text 1"/>
          <p:cNvSpPr/>
          <p:nvPr>
            <p:ph type="title"/>
          </p:nvPr>
        </p:nvSpPr>
        <p:spPr>
          <a:xfrm>
            <a:off x="812800" y="234950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5F1"/>
                </a:solidFill>
                <a:latin typeface="Be Vietnam Pro" pitchFamily="34" charset="0"/>
                <a:ea typeface="Be Vietnam Pro" pitchFamily="34" charset="-122"/>
                <a:cs typeface="Be Vietnam Pro" pitchFamily="34" charset="-120"/>
              </a:rPr>
              <a:t>Predicting Caravan Insurance Purchases</a:t>
            </a:r>
            <a:endParaRPr lang="en-US" sz="6000" dirty="0"/>
          </a:p>
        </p:txBody>
      </p:sp>
      <p:sp>
        <p:nvSpPr>
          <p:cNvPr id="4" name="Text 2"/>
          <p:cNvSpPr/>
          <p:nvPr/>
        </p:nvSpPr>
        <p:spPr>
          <a:xfrm>
            <a:off x="812800" y="415290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0A25A"/>
                </a:solidFill>
                <a:latin typeface="Be Vietnam Pro" pitchFamily="34" charset="0"/>
                <a:ea typeface="Be Vietnam Pro" pitchFamily="34" charset="-122"/>
                <a:cs typeface="Be Vietnam Pro" pitchFamily="34" charset="-120"/>
              </a:rPr>
              <a:t>Notebook overview: workflow, results and future directions</a:t>
            </a:r>
            <a:endParaRPr lang="en-US" sz="2000" dirty="0"/>
          </a:p>
        </p:txBody>
      </p:sp>
      <p:sp>
        <p:nvSpPr>
          <p:cNvPr id="5" name="Text 3"/>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CCD"/>
                </a:solidFill>
                <a:latin typeface="Be Vietnam Pro" pitchFamily="34" charset="0"/>
                <a:ea typeface="Be Vietnam Pro" pitchFamily="34" charset="-122"/>
                <a:cs typeface="Be Vietnam Pro" pitchFamily="34" charset="-120"/>
              </a:rPr>
              <a:t>COIL 2000 dataset · 5,822 training customers · 4,000 evaluation customers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0"/>
                </a:solidFill>
                <a:latin typeface="Be Vietnam Pro" pitchFamily="34" charset="0"/>
                <a:ea typeface="Be Vietnam Pro" pitchFamily="34" charset="-122"/>
                <a:cs typeface="Be Vietnam Pro" pitchFamily="34" charset="-120"/>
              </a:rPr>
              <a:t>The task: rank customers by likelihood to buy</a:t>
            </a:r>
            <a:endParaRPr lang="en-US" sz="3600" dirty="0"/>
          </a:p>
        </p:txBody>
      </p:sp>
      <p:sp>
        <p:nvSpPr>
          <p:cNvPr id="3" name="Shape 1"/>
          <p:cNvSpPr/>
          <p:nvPr/>
        </p:nvSpPr>
        <p:spPr>
          <a:xfrm>
            <a:off x="815975" y="1674495"/>
            <a:ext cx="3380264" cy="2122170"/>
          </a:xfrm>
          <a:prstGeom prst="roundRect">
            <a:avLst>
              <a:gd name="adj" fmla="val 4638"/>
            </a:avLst>
          </a:prstGeom>
          <a:solidFill>
            <a:srgbClr val="FFFFFF"/>
          </a:solidFill>
          <a:ln w="6350">
            <a:solidFill>
              <a:srgbClr val="D9D6CC"/>
            </a:solidFill>
            <a:prstDash val="solid"/>
          </a:ln>
        </p:spPr>
      </p:sp>
      <p:sp>
        <p:nvSpPr>
          <p:cNvPr id="4" name="Text 2"/>
          <p:cNvSpPr/>
          <p:nvPr/>
        </p:nvSpPr>
        <p:spPr>
          <a:xfrm>
            <a:off x="1071880" y="1930400"/>
            <a:ext cx="2954507"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46C78"/>
                </a:solidFill>
                <a:latin typeface="Be Vietnam Pro" pitchFamily="34" charset="0"/>
                <a:ea typeface="Be Vietnam Pro" pitchFamily="34" charset="-122"/>
                <a:cs typeface="Be Vietnam Pro" pitchFamily="34" charset="-120"/>
              </a:rPr>
              <a:t>5,822</a:t>
            </a:r>
            <a:endParaRPr lang="en-US" sz="6000" dirty="0"/>
          </a:p>
        </p:txBody>
      </p:sp>
      <p:sp>
        <p:nvSpPr>
          <p:cNvPr id="5" name="Text 3"/>
          <p:cNvSpPr/>
          <p:nvPr/>
        </p:nvSpPr>
        <p:spPr>
          <a:xfrm>
            <a:off x="1071880" y="2794000"/>
            <a:ext cx="29545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5967"/>
                </a:solidFill>
                <a:latin typeface="Be Vietnam Pro" pitchFamily="34" charset="0"/>
                <a:ea typeface="Be Vietnam Pro" pitchFamily="34" charset="-122"/>
                <a:cs typeface="Be Vietnam Pro" pitchFamily="34" charset="-120"/>
              </a:rPr>
              <a:t>labeled customers available for training</a:t>
            </a:r>
            <a:endParaRPr lang="en-US" sz="1400" dirty="0"/>
          </a:p>
        </p:txBody>
      </p:sp>
      <p:sp>
        <p:nvSpPr>
          <p:cNvPr id="6" name="Shape 4"/>
          <p:cNvSpPr/>
          <p:nvPr/>
        </p:nvSpPr>
        <p:spPr>
          <a:xfrm>
            <a:off x="4405789" y="1674495"/>
            <a:ext cx="3380343" cy="2122170"/>
          </a:xfrm>
          <a:prstGeom prst="roundRect">
            <a:avLst>
              <a:gd name="adj" fmla="val 4638"/>
            </a:avLst>
          </a:prstGeom>
          <a:solidFill>
            <a:srgbClr val="FFFFFF"/>
          </a:solidFill>
          <a:ln w="6350">
            <a:solidFill>
              <a:srgbClr val="D9D6CC"/>
            </a:solidFill>
            <a:prstDash val="solid"/>
          </a:ln>
        </p:spPr>
      </p:sp>
      <p:sp>
        <p:nvSpPr>
          <p:cNvPr id="7" name="Text 5"/>
          <p:cNvSpPr/>
          <p:nvPr/>
        </p:nvSpPr>
        <p:spPr>
          <a:xfrm>
            <a:off x="4661694" y="1930400"/>
            <a:ext cx="2954589"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46C78"/>
                </a:solidFill>
                <a:latin typeface="Be Vietnam Pro" pitchFamily="34" charset="0"/>
                <a:ea typeface="Be Vietnam Pro" pitchFamily="34" charset="-122"/>
                <a:cs typeface="Be Vietnam Pro" pitchFamily="34" charset="-120"/>
              </a:rPr>
              <a:t>85</a:t>
            </a:r>
            <a:endParaRPr lang="en-US" sz="6000" dirty="0"/>
          </a:p>
        </p:txBody>
      </p:sp>
      <p:sp>
        <p:nvSpPr>
          <p:cNvPr id="8" name="Text 6"/>
          <p:cNvSpPr/>
          <p:nvPr/>
        </p:nvSpPr>
        <p:spPr>
          <a:xfrm>
            <a:off x="4661694" y="2794000"/>
            <a:ext cx="295458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5967"/>
                </a:solidFill>
                <a:latin typeface="Be Vietnam Pro" pitchFamily="34" charset="0"/>
                <a:ea typeface="Be Vietnam Pro" pitchFamily="34" charset="-122"/>
                <a:cs typeface="Be Vietnam Pro" pitchFamily="34" charset="-120"/>
              </a:rPr>
              <a:t>predictors: neighborhood demographics (M), premiums (P) and policy counts (A)</a:t>
            </a:r>
            <a:endParaRPr lang="en-US" sz="1400" dirty="0"/>
          </a:p>
        </p:txBody>
      </p:sp>
      <p:sp>
        <p:nvSpPr>
          <p:cNvPr id="9" name="Shape 7"/>
          <p:cNvSpPr/>
          <p:nvPr/>
        </p:nvSpPr>
        <p:spPr>
          <a:xfrm>
            <a:off x="7995682" y="1674495"/>
            <a:ext cx="3380343" cy="2122170"/>
          </a:xfrm>
          <a:prstGeom prst="roundRect">
            <a:avLst>
              <a:gd name="adj" fmla="val 4638"/>
            </a:avLst>
          </a:prstGeom>
          <a:solidFill>
            <a:srgbClr val="FFFFFF"/>
          </a:solidFill>
          <a:ln w="6350">
            <a:solidFill>
              <a:srgbClr val="D9D6CC"/>
            </a:solidFill>
            <a:prstDash val="solid"/>
          </a:ln>
        </p:spPr>
      </p:sp>
      <p:sp>
        <p:nvSpPr>
          <p:cNvPr id="10" name="Text 8"/>
          <p:cNvSpPr/>
          <p:nvPr/>
        </p:nvSpPr>
        <p:spPr>
          <a:xfrm>
            <a:off x="8251587" y="1930400"/>
            <a:ext cx="2954589"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B5651D"/>
                </a:solidFill>
                <a:latin typeface="Be Vietnam Pro" pitchFamily="34" charset="0"/>
                <a:ea typeface="Be Vietnam Pro" pitchFamily="34" charset="-122"/>
                <a:cs typeface="Be Vietnam Pro" pitchFamily="34" charset="-120"/>
              </a:rPr>
              <a:t>6%</a:t>
            </a:r>
            <a:endParaRPr lang="en-US" sz="6000" dirty="0"/>
          </a:p>
        </p:txBody>
      </p:sp>
      <p:sp>
        <p:nvSpPr>
          <p:cNvPr id="11" name="Text 9"/>
          <p:cNvSpPr/>
          <p:nvPr/>
        </p:nvSpPr>
        <p:spPr>
          <a:xfrm>
            <a:off x="8251587" y="2794000"/>
            <a:ext cx="29545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5967"/>
                </a:solidFill>
                <a:latin typeface="Be Vietnam Pro" pitchFamily="34" charset="0"/>
                <a:ea typeface="Be Vietnam Pro" pitchFamily="34" charset="-122"/>
                <a:cs typeface="Be Vietnam Pro" pitchFamily="34" charset="-120"/>
              </a:rPr>
              <a:t>customers own a caravan policy (348 people)</a:t>
            </a:r>
            <a:endParaRPr lang="en-US" sz="1400" dirty="0"/>
          </a:p>
        </p:txBody>
      </p:sp>
      <p:sp>
        <p:nvSpPr>
          <p:cNvPr id="12" name="Text 10"/>
          <p:cNvSpPr/>
          <p:nvPr/>
        </p:nvSpPr>
        <p:spPr>
          <a:xfrm>
            <a:off x="812800" y="4155440"/>
            <a:ext cx="10883392"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D2430"/>
                </a:solidFill>
                <a:latin typeface="Be Vietnam Pro" pitchFamily="34" charset="0"/>
                <a:ea typeface="Be Vietnam Pro" pitchFamily="34" charset="-122"/>
                <a:cs typeface="Be Vietnam Pro" pitchFamily="34" charset="-120"/>
              </a:rPr>
              <a:t>Only about 6% of customers are positive, so accuracy does not reflect model quality: a model that always predicts "no purchase" would still score about 94%. The notebook uses Average Precision (AP) as the main metric and ROC-AUC as a secondary metric.</a:t>
            </a:r>
            <a:endParaRPr lang="en-US" sz="1400" dirty="0"/>
          </a:p>
        </p:txBody>
      </p:sp>
      <p:sp>
        <p:nvSpPr>
          <p:cNvPr id="13" name="Text 11"/>
          <p:cNvSpPr/>
          <p:nvPr/>
        </p:nvSpPr>
        <p:spPr>
          <a:xfrm>
            <a:off x="812800" y="6238241"/>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967"/>
                </a:solidFill>
                <a:latin typeface="Be Vietnam Pro" pitchFamily="34" charset="0"/>
                <a:ea typeface="Be Vietnam Pro" pitchFamily="34" charset="-122"/>
                <a:cs typeface="Be Vietnam Pro" pitchFamily="34" charset="-120"/>
              </a:rPr>
              <a:t>02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0"/>
                </a:solidFill>
                <a:latin typeface="Be Vietnam Pro" pitchFamily="34" charset="0"/>
                <a:ea typeface="Be Vietnam Pro" pitchFamily="34" charset="-122"/>
                <a:cs typeface="Be Vietnam Pro" pitchFamily="34" charset="-120"/>
              </a:rPr>
              <a:t>Split the data before any supervised step</a:t>
            </a:r>
            <a:endParaRPr lang="en-US" sz="3600" dirty="0"/>
          </a:p>
        </p:txBody>
      </p:sp>
      <p:sp>
        <p:nvSpPr>
          <p:cNvPr id="3" name="Shape 1"/>
          <p:cNvSpPr/>
          <p:nvPr/>
        </p:nvSpPr>
        <p:spPr>
          <a:xfrm>
            <a:off x="815975" y="1674495"/>
            <a:ext cx="3380264" cy="2757170"/>
          </a:xfrm>
          <a:prstGeom prst="roundRect">
            <a:avLst>
              <a:gd name="adj" fmla="val 3570"/>
            </a:avLst>
          </a:prstGeom>
          <a:solidFill>
            <a:srgbClr val="FFFFFF"/>
          </a:solidFill>
          <a:ln w="6350">
            <a:solidFill>
              <a:srgbClr val="D9D6CC"/>
            </a:solidFill>
            <a:prstDash val="solid"/>
          </a:ln>
        </p:spPr>
      </p:sp>
      <p:sp>
        <p:nvSpPr>
          <p:cNvPr id="4" name="Text 2"/>
          <p:cNvSpPr/>
          <p:nvPr/>
        </p:nvSpPr>
        <p:spPr>
          <a:xfrm>
            <a:off x="1071880" y="1930400"/>
            <a:ext cx="29545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6C78"/>
                </a:solidFill>
                <a:latin typeface="Be Vietnam Pro" pitchFamily="34" charset="0"/>
                <a:ea typeface="Be Vietnam Pro" pitchFamily="34" charset="-122"/>
                <a:cs typeface="Be Vietnam Pro" pitchFamily="34" charset="-120"/>
              </a:rPr>
              <a:t>Development (dev)</a:t>
            </a:r>
            <a:endParaRPr lang="en-US" sz="2000" dirty="0"/>
          </a:p>
        </p:txBody>
      </p:sp>
      <p:sp>
        <p:nvSpPr>
          <p:cNvPr id="5" name="Text 3"/>
          <p:cNvSpPr/>
          <p:nvPr/>
        </p:nvSpPr>
        <p:spPr>
          <a:xfrm>
            <a:off x="1071880" y="2336800"/>
            <a:ext cx="2954507"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D2430"/>
                </a:solidFill>
                <a:latin typeface="Be Vietnam Pro" pitchFamily="34" charset="0"/>
                <a:ea typeface="Be Vietnam Pro" pitchFamily="34" charset="-122"/>
                <a:cs typeface="Be Vietnam Pro" pitchFamily="34" charset="-120"/>
              </a:rPr>
              <a:t>4,657</a:t>
            </a:r>
            <a:endParaRPr lang="en-US" sz="3600" dirty="0"/>
          </a:p>
        </p:txBody>
      </p:sp>
      <p:sp>
        <p:nvSpPr>
          <p:cNvPr id="6" name="Text 4"/>
          <p:cNvSpPr/>
          <p:nvPr/>
        </p:nvSpPr>
        <p:spPr>
          <a:xfrm>
            <a:off x="1071880" y="3078480"/>
            <a:ext cx="29545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5967"/>
                </a:solidFill>
                <a:latin typeface="Be Vietnam Pro" pitchFamily="34" charset="0"/>
                <a:ea typeface="Be Vietnam Pro" pitchFamily="34" charset="-122"/>
                <a:cs typeface="Be Vietnam Pro" pitchFamily="34" charset="-120"/>
              </a:rPr>
              <a:t>customers, of whom 278 are positive</a:t>
            </a:r>
            <a:endParaRPr lang="en-US" sz="1400" dirty="0"/>
          </a:p>
        </p:txBody>
      </p:sp>
      <p:sp>
        <p:nvSpPr>
          <p:cNvPr id="7" name="Text 5"/>
          <p:cNvSpPr/>
          <p:nvPr/>
        </p:nvSpPr>
        <p:spPr>
          <a:xfrm>
            <a:off x="1071880" y="3677920"/>
            <a:ext cx="29545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Explore data, select variables, encode and train</a:t>
            </a:r>
            <a:endParaRPr lang="en-US" sz="1400" dirty="0"/>
          </a:p>
        </p:txBody>
      </p:sp>
      <p:sp>
        <p:nvSpPr>
          <p:cNvPr id="8" name="Shape 6"/>
          <p:cNvSpPr/>
          <p:nvPr/>
        </p:nvSpPr>
        <p:spPr>
          <a:xfrm>
            <a:off x="4405789" y="1674495"/>
            <a:ext cx="3380343" cy="2757170"/>
          </a:xfrm>
          <a:prstGeom prst="roundRect">
            <a:avLst>
              <a:gd name="adj" fmla="val 3570"/>
            </a:avLst>
          </a:prstGeom>
          <a:solidFill>
            <a:srgbClr val="FFFFFF"/>
          </a:solidFill>
          <a:ln w="6350">
            <a:solidFill>
              <a:srgbClr val="D9D6CC"/>
            </a:solidFill>
            <a:prstDash val="solid"/>
          </a:ln>
        </p:spPr>
      </p:sp>
      <p:sp>
        <p:nvSpPr>
          <p:cNvPr id="9" name="Text 7"/>
          <p:cNvSpPr/>
          <p:nvPr/>
        </p:nvSpPr>
        <p:spPr>
          <a:xfrm>
            <a:off x="4661694" y="1930400"/>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6C78"/>
                </a:solidFill>
                <a:latin typeface="Be Vietnam Pro" pitchFamily="34" charset="0"/>
                <a:ea typeface="Be Vietnam Pro" pitchFamily="34" charset="-122"/>
                <a:cs typeface="Be Vietnam Pro" pitchFamily="34" charset="-120"/>
              </a:rPr>
              <a:t>Validation</a:t>
            </a:r>
            <a:endParaRPr lang="en-US" sz="2000" dirty="0"/>
          </a:p>
        </p:txBody>
      </p:sp>
      <p:sp>
        <p:nvSpPr>
          <p:cNvPr id="10" name="Text 8"/>
          <p:cNvSpPr/>
          <p:nvPr/>
        </p:nvSpPr>
        <p:spPr>
          <a:xfrm>
            <a:off x="4661694" y="2336800"/>
            <a:ext cx="2954589"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D2430"/>
                </a:solidFill>
                <a:latin typeface="Be Vietnam Pro" pitchFamily="34" charset="0"/>
                <a:ea typeface="Be Vietnam Pro" pitchFamily="34" charset="-122"/>
                <a:cs typeface="Be Vietnam Pro" pitchFamily="34" charset="-120"/>
              </a:rPr>
              <a:t>1,165</a:t>
            </a:r>
            <a:endParaRPr lang="en-US" sz="3600" dirty="0"/>
          </a:p>
        </p:txBody>
      </p:sp>
      <p:sp>
        <p:nvSpPr>
          <p:cNvPr id="11" name="Text 9"/>
          <p:cNvSpPr/>
          <p:nvPr/>
        </p:nvSpPr>
        <p:spPr>
          <a:xfrm>
            <a:off x="4661694" y="3078480"/>
            <a:ext cx="29545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5967"/>
                </a:solidFill>
                <a:latin typeface="Be Vietnam Pro" pitchFamily="34" charset="0"/>
                <a:ea typeface="Be Vietnam Pro" pitchFamily="34" charset="-122"/>
                <a:cs typeface="Be Vietnam Pro" pitchFamily="34" charset="-120"/>
              </a:rPr>
              <a:t>customers, about 70 of them positive</a:t>
            </a:r>
            <a:endParaRPr lang="en-US" sz="1400" dirty="0"/>
          </a:p>
        </p:txBody>
      </p:sp>
      <p:sp>
        <p:nvSpPr>
          <p:cNvPr id="12" name="Text 10"/>
          <p:cNvSpPr/>
          <p:nvPr/>
        </p:nvSpPr>
        <p:spPr>
          <a:xfrm>
            <a:off x="4661694" y="3677920"/>
            <a:ext cx="29545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Compare models and choose hyperparameters</a:t>
            </a:r>
            <a:endParaRPr lang="en-US" sz="1400" dirty="0"/>
          </a:p>
        </p:txBody>
      </p:sp>
      <p:sp>
        <p:nvSpPr>
          <p:cNvPr id="13" name="Shape 11"/>
          <p:cNvSpPr/>
          <p:nvPr/>
        </p:nvSpPr>
        <p:spPr>
          <a:xfrm>
            <a:off x="7995682" y="1674495"/>
            <a:ext cx="3380343" cy="2757170"/>
          </a:xfrm>
          <a:prstGeom prst="roundRect">
            <a:avLst>
              <a:gd name="adj" fmla="val 3570"/>
            </a:avLst>
          </a:prstGeom>
          <a:solidFill>
            <a:srgbClr val="FFFFFF"/>
          </a:solidFill>
          <a:ln w="6350">
            <a:solidFill>
              <a:srgbClr val="D9D6CC"/>
            </a:solidFill>
            <a:prstDash val="solid"/>
          </a:ln>
        </p:spPr>
      </p:sp>
      <p:sp>
        <p:nvSpPr>
          <p:cNvPr id="14" name="Text 12"/>
          <p:cNvSpPr/>
          <p:nvPr/>
        </p:nvSpPr>
        <p:spPr>
          <a:xfrm>
            <a:off x="8251587" y="1930400"/>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6C78"/>
                </a:solidFill>
                <a:latin typeface="Be Vietnam Pro" pitchFamily="34" charset="0"/>
                <a:ea typeface="Be Vietnam Pro" pitchFamily="34" charset="-122"/>
                <a:cs typeface="Be Vietnam Pro" pitchFamily="34" charset="-120"/>
              </a:rPr>
              <a:t>Test</a:t>
            </a:r>
            <a:endParaRPr lang="en-US" sz="2000" dirty="0"/>
          </a:p>
        </p:txBody>
      </p:sp>
      <p:sp>
        <p:nvSpPr>
          <p:cNvPr id="15" name="Text 13"/>
          <p:cNvSpPr/>
          <p:nvPr/>
        </p:nvSpPr>
        <p:spPr>
          <a:xfrm>
            <a:off x="8251587" y="2336800"/>
            <a:ext cx="2954589" cy="66548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1D2430"/>
                </a:solidFill>
                <a:latin typeface="Be Vietnam Pro" pitchFamily="34" charset="0"/>
                <a:ea typeface="Be Vietnam Pro" pitchFamily="34" charset="-122"/>
                <a:cs typeface="Be Vietnam Pro" pitchFamily="34" charset="-120"/>
              </a:rPr>
              <a:t>4,000</a:t>
            </a:r>
            <a:endParaRPr lang="en-US" sz="3600" dirty="0"/>
          </a:p>
        </p:txBody>
      </p:sp>
      <p:sp>
        <p:nvSpPr>
          <p:cNvPr id="16" name="Text 14"/>
          <p:cNvSpPr/>
          <p:nvPr/>
        </p:nvSpPr>
        <p:spPr>
          <a:xfrm>
            <a:off x="8251587" y="3078480"/>
            <a:ext cx="29545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5967"/>
                </a:solidFill>
                <a:latin typeface="Be Vietnam Pro" pitchFamily="34" charset="0"/>
                <a:ea typeface="Be Vietnam Pro" pitchFamily="34" charset="-122"/>
                <a:cs typeface="Be Vietnam Pro" pitchFamily="34" charset="-120"/>
              </a:rPr>
              <a:t>customers, not used in any selection step</a:t>
            </a:r>
            <a:endParaRPr lang="en-US" sz="1400" dirty="0"/>
          </a:p>
        </p:txBody>
      </p:sp>
      <p:sp>
        <p:nvSpPr>
          <p:cNvPr id="17" name="Text 15"/>
          <p:cNvSpPr/>
          <p:nvPr/>
        </p:nvSpPr>
        <p:spPr>
          <a:xfrm>
            <a:off x="8251587" y="3677920"/>
            <a:ext cx="29545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Evaluate once, after all choices are fixed</a:t>
            </a:r>
            <a:endParaRPr lang="en-US" sz="1400" dirty="0"/>
          </a:p>
        </p:txBody>
      </p:sp>
      <p:sp>
        <p:nvSpPr>
          <p:cNvPr id="18" name="Text 16"/>
          <p:cNvSpPr/>
          <p:nvPr/>
        </p:nvSpPr>
        <p:spPr>
          <a:xfrm>
            <a:off x="812800" y="4790441"/>
            <a:ext cx="10883392"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D2430"/>
                </a:solidFill>
                <a:latin typeface="Be Vietnam Pro" pitchFamily="34" charset="0"/>
                <a:ea typeface="Be Vietnam Pro" pitchFamily="34" charset="-122"/>
                <a:cs typeface="Be Vietnam Pro" pitchFamily="34" charset="-120"/>
              </a:rPr>
              <a:t>80/20 stratified split, seed 42. Encoders and scalers are fit on the dev set only, then applied without refitting to validation and test.</a:t>
            </a:r>
            <a:endParaRPr lang="en-US" sz="1400" dirty="0"/>
          </a:p>
        </p:txBody>
      </p:sp>
      <p:sp>
        <p:nvSpPr>
          <p:cNvPr id="19" name="Text 17"/>
          <p:cNvSpPr/>
          <p:nvPr/>
        </p:nvSpPr>
        <p:spPr>
          <a:xfrm>
            <a:off x="812800" y="6238241"/>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967"/>
                </a:solidFill>
                <a:latin typeface="Be Vietnam Pro" pitchFamily="34" charset="0"/>
                <a:ea typeface="Be Vietnam Pro" pitchFamily="34" charset="-122"/>
                <a:cs typeface="Be Vietnam Pro" pitchFamily="34" charset="-120"/>
              </a:rPr>
              <a:t>03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0"/>
                </a:solidFill>
                <a:latin typeface="Be Vietnam Pro" pitchFamily="34" charset="0"/>
                <a:ea typeface="Be Vietnam Pro" pitchFamily="34" charset="-122"/>
                <a:cs typeface="Be Vietnam Pro" pitchFamily="34" charset="-120"/>
              </a:rPr>
              <a:t>32 of 85 variables are linked to ownership</a:t>
            </a:r>
            <a:endParaRPr lang="en-US" sz="3600" dirty="0"/>
          </a:p>
        </p:txBody>
      </p:sp>
      <p:sp>
        <p:nvSpPr>
          <p:cNvPr id="3" name="Text 1"/>
          <p:cNvSpPr/>
          <p:nvPr/>
        </p:nvSpPr>
        <p:spPr>
          <a:xfrm>
            <a:off x="812800" y="1620520"/>
            <a:ext cx="10883392"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D2430"/>
                </a:solidFill>
                <a:latin typeface="Be Vietnam Pro" pitchFamily="34" charset="0"/>
                <a:ea typeface="Be Vietnam Pro" pitchFamily="34" charset="-122"/>
                <a:cs typeface="Be Vietnam Pro" pitchFamily="34" charset="-120"/>
              </a:rPr>
              <a:t>Chi-square test for each variable, adjusted with Benjamini–Hochberg at q &lt; 0.05.</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193290"/>
          <a:ext cx="10556240" cy="1849120"/>
        </p:xfrm>
        <a:graphic>
          <a:graphicData uri="http://schemas.openxmlformats.org/drawingml/2006/table">
            <a:tbl>
              <a:tblPr/>
              <a:tblGrid>
                <a:gridCol w="3518747"/>
                <a:gridCol w="3518747"/>
                <a:gridCol w="3518747"/>
              </a:tblGrid>
              <a:tr h="462280">
                <a:tc>
                  <a:txBody>
                    <a:bodyPr/>
                    <a:lstStyle/>
                    <a:p>
                      <a:pPr indent="0" marL="0">
                        <a:lnSpc>
                          <a:spcPts val="1960"/>
                        </a:lnSpc>
                        <a:buNone/>
                      </a:pPr>
                      <a:r>
                        <a:rPr lang="en-US" sz="1400" b="1" dirty="0">
                          <a:solidFill>
                            <a:srgbClr val="1D2430"/>
                          </a:solidFill>
                          <a:latin typeface="Be Vietnam Pro" pitchFamily="34" charset="0"/>
                          <a:ea typeface="Be Vietnam Pro" pitchFamily="34" charset="-122"/>
                          <a:cs typeface="Be Vietnam Pro" pitchFamily="34" charset="-120"/>
                        </a:rPr>
                        <a:t>Variable group</a:t>
                      </a:r>
                      <a:endParaRPr lang="en-US" sz="1400" dirty="0">
                        <a:latin typeface="Be Vietnam Pro" charset="0"/>
                        <a:ea typeface="Be Vietnam Pro" charset="0"/>
                        <a:cs typeface="Be Vietnam Pro" charset="0"/>
                      </a:endParaRPr>
                    </a:p>
                  </a:txBody>
                  <a:tcPr marL="101600" marR="101600" marT="101600" marB="101600"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60"/>
                        </a:lnSpc>
                        <a:buNone/>
                      </a:pPr>
                      <a:r>
                        <a:rPr lang="en-US" sz="1400" b="1" dirty="0">
                          <a:solidFill>
                            <a:srgbClr val="1D2430"/>
                          </a:solidFill>
                          <a:latin typeface="Be Vietnam Pro" pitchFamily="34" charset="0"/>
                          <a:ea typeface="Be Vietnam Pro" pitchFamily="34" charset="-122"/>
                          <a:cs typeface="Be Vietnam Pro" pitchFamily="34" charset="-120"/>
                        </a:rPr>
                        <a:t>Significant</a:t>
                      </a:r>
                      <a:endParaRPr lang="en-US" sz="1400" dirty="0">
                        <a:latin typeface="Be Vietnam Pro" charset="0"/>
                        <a:ea typeface="Be Vietnam Pro" charset="0"/>
                        <a:cs typeface="Be Vietnam Pro" charset="0"/>
                      </a:endParaRPr>
                    </a:p>
                  </a:txBody>
                  <a:tcPr marL="101600" marR="101600" marT="101600" marB="10160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60"/>
                        </a:lnSpc>
                        <a:buNone/>
                      </a:pPr>
                      <a:r>
                        <a:rPr lang="en-US" sz="1400" b="1" dirty="0">
                          <a:solidFill>
                            <a:srgbClr val="1D2430"/>
                          </a:solidFill>
                          <a:latin typeface="Be Vietnam Pro" pitchFamily="34" charset="0"/>
                          <a:ea typeface="Be Vietnam Pro" pitchFamily="34" charset="-122"/>
                          <a:cs typeface="Be Vietnam Pro" pitchFamily="34" charset="-120"/>
                        </a:rPr>
                        <a:t>Examples</a:t>
                      </a:r>
                      <a:endParaRPr lang="en-US" sz="1400" dirty="0">
                        <a:latin typeface="Be Vietnam Pro" charset="0"/>
                        <a:ea typeface="Be Vietnam Pro" charset="0"/>
                        <a:cs typeface="Be Vietnam Pro" charset="0"/>
                      </a:endParaRPr>
                    </a:p>
                  </a:txBody>
                  <a:tcPr marL="101600" marR="101600" marT="101600" marB="10160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462280">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M · neighborhood demographics</a:t>
                      </a:r>
                      <a:endParaRPr lang="en-US" sz="1400" dirty="0">
                        <a:latin typeface="Be Vietnam Pro" charset="0"/>
                        <a:ea typeface="Be Vietnam Pro" charset="0"/>
                        <a:cs typeface="Be Vietnam Pro" charset="0"/>
                      </a:endParaRPr>
                    </a:p>
                  </a:txBody>
                  <a:tcPr marL="101600" marR="1016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18 / 43</a:t>
                      </a:r>
                      <a:endParaRPr lang="en-US" sz="1400" dirty="0">
                        <a:latin typeface="Be Vietnam Pro" charset="0"/>
                        <a:ea typeface="Be Vietnam Pro" charset="0"/>
                        <a:cs typeface="Be Vietnam Pro" charset="0"/>
                      </a:endParaRPr>
                    </a:p>
                  </a:txBody>
                  <a:tcPr marL="101600" marR="1016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MKOOPKLA, MINKGEM</a:t>
                      </a:r>
                      <a:endParaRPr lang="en-US" sz="1400" dirty="0">
                        <a:latin typeface="Be Vietnam Pro" charset="0"/>
                        <a:ea typeface="Be Vietnam Pro" charset="0"/>
                        <a:cs typeface="Be Vietnam Pro" charset="0"/>
                      </a:endParaRPr>
                    </a:p>
                  </a:txBody>
                  <a:tcPr marL="101600" marR="1016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462280">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P · insurance premiums</a:t>
                      </a:r>
                      <a:endParaRPr lang="en-US" sz="1400" dirty="0">
                        <a:latin typeface="Be Vietnam Pro" charset="0"/>
                        <a:ea typeface="Be Vietnam Pro" charset="0"/>
                        <a:cs typeface="Be Vietnam Pro" charset="0"/>
                      </a:endParaRPr>
                    </a:p>
                  </a:txBody>
                  <a:tcPr marL="101600" marR="1016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6 / 21</a:t>
                      </a:r>
                      <a:endParaRPr lang="en-US" sz="1400" dirty="0">
                        <a:latin typeface="Be Vietnam Pro" charset="0"/>
                        <a:ea typeface="Be Vietnam Pro" charset="0"/>
                        <a:cs typeface="Be Vietnam Pro" charset="0"/>
                      </a:endParaRPr>
                    </a:p>
                  </a:txBody>
                  <a:tcPr marL="101600" marR="1016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PPERSAUT, PBRAND, PPLEZIER</a:t>
                      </a:r>
                      <a:endParaRPr lang="en-US" sz="1400" dirty="0">
                        <a:latin typeface="Be Vietnam Pro" charset="0"/>
                        <a:ea typeface="Be Vietnam Pro" charset="0"/>
                        <a:cs typeface="Be Vietnam Pro" charset="0"/>
                      </a:endParaRPr>
                    </a:p>
                  </a:txBody>
                  <a:tcPr marL="101600" marR="1016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462280">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A · policy counts</a:t>
                      </a:r>
                      <a:endParaRPr lang="en-US" sz="1400" dirty="0">
                        <a:latin typeface="Be Vietnam Pro" charset="0"/>
                        <a:ea typeface="Be Vietnam Pro" charset="0"/>
                        <a:cs typeface="Be Vietnam Pro" charset="0"/>
                      </a:endParaRPr>
                    </a:p>
                  </a:txBody>
                  <a:tcPr marL="101600" marR="1016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8 / 21</a:t>
                      </a:r>
                      <a:endParaRPr lang="en-US" sz="1400" dirty="0">
                        <a:latin typeface="Be Vietnam Pro" charset="0"/>
                        <a:ea typeface="Be Vietnam Pro" charset="0"/>
                        <a:cs typeface="Be Vietnam Pro" charset="0"/>
                      </a:endParaRPr>
                    </a:p>
                  </a:txBody>
                  <a:tcPr marL="101600" marR="1016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APERSAUT, ABRAND, AWAPART</a:t>
                      </a:r>
                      <a:endParaRPr lang="en-US" sz="1400" dirty="0">
                        <a:latin typeface="Be Vietnam Pro" charset="0"/>
                        <a:ea typeface="Be Vietnam Pro" charset="0"/>
                        <a:cs typeface="Be Vietnam Pro" charset="0"/>
                      </a:endParaRPr>
                    </a:p>
                  </a:txBody>
                  <a:tcPr marL="101600" marR="101600" marT="101600" marB="1016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812800" y="4347211"/>
            <a:ext cx="10883392"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D2430"/>
                </a:solidFill>
                <a:latin typeface="Be Vietnam Pro" pitchFamily="34" charset="0"/>
                <a:ea typeface="Be Vietnam Pro" pitchFamily="34" charset="-122"/>
                <a:cs typeface="Be Vietnam Pro" pitchFamily="34" charset="-120"/>
              </a:rPr>
              <a:t>The strongest variable is the car insurance premium (PPERSAUT, IV = 0.619). Ownership is about 11% at level 6 of PPERSAUT, compared with 2–3% at levels 0 and 5.</a:t>
            </a:r>
            <a:endParaRPr lang="en-US" sz="1400" dirty="0"/>
          </a:p>
        </p:txBody>
      </p:sp>
      <p:sp>
        <p:nvSpPr>
          <p:cNvPr id="6" name="Text 3"/>
          <p:cNvSpPr/>
          <p:nvPr/>
        </p:nvSpPr>
        <p:spPr>
          <a:xfrm>
            <a:off x="812800" y="6238239"/>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967"/>
                </a:solidFill>
                <a:latin typeface="Be Vietnam Pro" pitchFamily="34" charset="0"/>
                <a:ea typeface="Be Vietnam Pro" pitchFamily="34" charset="-122"/>
                <a:cs typeface="Be Vietnam Pro" pitchFamily="34" charset="-120"/>
              </a:rPr>
              <a:t>04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0"/>
                </a:solidFill>
                <a:latin typeface="Be Vietnam Pro" pitchFamily="34" charset="0"/>
                <a:ea typeface="Be Vietnam Pro" pitchFamily="34" charset="-122"/>
                <a:cs typeface="Be Vietnam Pro" pitchFamily="34" charset="-120"/>
              </a:rPr>
              <a:t>From 85 variables to 152 input columns</a:t>
            </a:r>
            <a:endParaRPr lang="en-US" sz="3600" dirty="0"/>
          </a:p>
        </p:txBody>
      </p:sp>
      <p:sp>
        <p:nvSpPr>
          <p:cNvPr id="3" name="Shape 1"/>
          <p:cNvSpPr/>
          <p:nvPr/>
        </p:nvSpPr>
        <p:spPr>
          <a:xfrm>
            <a:off x="815975" y="1674496"/>
            <a:ext cx="3380264" cy="2512060"/>
          </a:xfrm>
          <a:prstGeom prst="roundRect">
            <a:avLst>
              <a:gd name="adj" fmla="val 3918"/>
            </a:avLst>
          </a:prstGeom>
          <a:solidFill>
            <a:srgbClr val="FFFFFF"/>
          </a:solidFill>
          <a:ln w="6350">
            <a:solidFill>
              <a:srgbClr val="D9D6CC"/>
            </a:solidFill>
            <a:prstDash val="solid"/>
          </a:ln>
        </p:spPr>
      </p:sp>
      <p:sp>
        <p:nvSpPr>
          <p:cNvPr id="4" name="Text 2"/>
          <p:cNvSpPr/>
          <p:nvPr/>
        </p:nvSpPr>
        <p:spPr>
          <a:xfrm>
            <a:off x="1071880" y="1930400"/>
            <a:ext cx="2954507"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6C78"/>
                </a:solidFill>
                <a:latin typeface="Be Vietnam Pro" pitchFamily="34" charset="0"/>
                <a:ea typeface="Be Vietnam Pro" pitchFamily="34" charset="-122"/>
                <a:cs typeface="Be Vietnam Pro" pitchFamily="34" charset="-120"/>
              </a:rPr>
              <a:t>Drop 8 redundant columns</a:t>
            </a:r>
            <a:endParaRPr lang="en-US" sz="2000" dirty="0"/>
          </a:p>
        </p:txBody>
      </p:sp>
      <p:sp>
        <p:nvSpPr>
          <p:cNvPr id="5" name="Text 3"/>
          <p:cNvSpPr/>
          <p:nvPr/>
        </p:nvSpPr>
        <p:spPr>
          <a:xfrm>
            <a:off x="1071880" y="2641600"/>
            <a:ext cx="2954507"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D2430"/>
                </a:solidFill>
                <a:latin typeface="Be Vietnam Pro" pitchFamily="34" charset="0"/>
                <a:ea typeface="Be Vietnam Pro" pitchFamily="34" charset="-122"/>
                <a:cs typeface="Be Vietnam Pro" pitchFamily="34" charset="-120"/>
              </a:rPr>
              <a:t>Columns such as AVRAAUT and MOSHOOFD are fully determined by other columns. 77 variables remain.</a:t>
            </a:r>
            <a:endParaRPr lang="en-US" sz="1400" dirty="0"/>
          </a:p>
        </p:txBody>
      </p:sp>
      <p:sp>
        <p:nvSpPr>
          <p:cNvPr id="6" name="Shape 4"/>
          <p:cNvSpPr/>
          <p:nvPr/>
        </p:nvSpPr>
        <p:spPr>
          <a:xfrm>
            <a:off x="4405789" y="1674496"/>
            <a:ext cx="3380343" cy="2512060"/>
          </a:xfrm>
          <a:prstGeom prst="roundRect">
            <a:avLst>
              <a:gd name="adj" fmla="val 3918"/>
            </a:avLst>
          </a:prstGeom>
          <a:solidFill>
            <a:srgbClr val="FFFFFF"/>
          </a:solidFill>
          <a:ln w="6350">
            <a:solidFill>
              <a:srgbClr val="D9D6CC"/>
            </a:solidFill>
            <a:prstDash val="solid"/>
          </a:ln>
        </p:spPr>
      </p:sp>
      <p:sp>
        <p:nvSpPr>
          <p:cNvPr id="7" name="Text 5"/>
          <p:cNvSpPr/>
          <p:nvPr/>
        </p:nvSpPr>
        <p:spPr>
          <a:xfrm>
            <a:off x="4661694" y="1930400"/>
            <a:ext cx="2954589"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6C78"/>
                </a:solidFill>
                <a:latin typeface="Be Vietnam Pro" pitchFamily="34" charset="0"/>
                <a:ea typeface="Be Vietnam Pro" pitchFamily="34" charset="-122"/>
                <a:cs typeface="Be Vietnam Pro" pitchFamily="34" charset="-120"/>
              </a:rPr>
              <a:t>One-hot encode 6 variables</a:t>
            </a:r>
            <a:endParaRPr lang="en-US" sz="2000" dirty="0"/>
          </a:p>
        </p:txBody>
      </p:sp>
      <p:sp>
        <p:nvSpPr>
          <p:cNvPr id="8" name="Text 6"/>
          <p:cNvSpPr/>
          <p:nvPr/>
        </p:nvSpPr>
        <p:spPr>
          <a:xfrm>
            <a:off x="4661694" y="2641600"/>
            <a:ext cx="2954589" cy="131445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D2430"/>
                </a:solidFill>
                <a:latin typeface="Be Vietnam Pro" pitchFamily="34" charset="0"/>
                <a:ea typeface="Be Vietnam Pro" pitchFamily="34" charset="-122"/>
                <a:cs typeface="Be Vietnam Pro" pitchFamily="34" charset="-120"/>
              </a:rPr>
              <a:t>The five non-monotonic variables with the highest IV (PPERSAUT, APERSAUT, PBRAND, MINKGEM, MSKA) and the nominal variable MOSTYPE.</a:t>
            </a:r>
            <a:endParaRPr lang="en-US" sz="1400" dirty="0"/>
          </a:p>
        </p:txBody>
      </p:sp>
      <p:sp>
        <p:nvSpPr>
          <p:cNvPr id="9" name="Shape 7"/>
          <p:cNvSpPr/>
          <p:nvPr/>
        </p:nvSpPr>
        <p:spPr>
          <a:xfrm>
            <a:off x="7995682" y="1674496"/>
            <a:ext cx="3380343" cy="2512060"/>
          </a:xfrm>
          <a:prstGeom prst="roundRect">
            <a:avLst>
              <a:gd name="adj" fmla="val 3918"/>
            </a:avLst>
          </a:prstGeom>
          <a:solidFill>
            <a:srgbClr val="FFFFFF"/>
          </a:solidFill>
          <a:ln w="6350">
            <a:solidFill>
              <a:srgbClr val="D9D6CC"/>
            </a:solidFill>
            <a:prstDash val="solid"/>
          </a:ln>
        </p:spPr>
      </p:sp>
      <p:sp>
        <p:nvSpPr>
          <p:cNvPr id="10" name="Text 8"/>
          <p:cNvSpPr/>
          <p:nvPr/>
        </p:nvSpPr>
        <p:spPr>
          <a:xfrm>
            <a:off x="8251587" y="1930400"/>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6C78"/>
                </a:solidFill>
                <a:latin typeface="Be Vietnam Pro" pitchFamily="34" charset="0"/>
                <a:ea typeface="Be Vietnam Pro" pitchFamily="34" charset="-122"/>
                <a:cs typeface="Be Vietnam Pro" pitchFamily="34" charset="-120"/>
              </a:rPr>
              <a:t>Scale by model</a:t>
            </a:r>
            <a:endParaRPr lang="en-US" sz="2000" dirty="0"/>
          </a:p>
        </p:txBody>
      </p:sp>
      <p:sp>
        <p:nvSpPr>
          <p:cNvPr id="11" name="Text 9"/>
          <p:cNvSpPr/>
          <p:nvPr/>
        </p:nvSpPr>
        <p:spPr>
          <a:xfrm>
            <a:off x="8251587" y="2336800"/>
            <a:ext cx="2954589"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D2430"/>
                </a:solidFill>
                <a:latin typeface="Be Vietnam Pro" pitchFamily="34" charset="0"/>
                <a:ea typeface="Be Vietnam Pro" pitchFamily="34" charset="-122"/>
                <a:cs typeface="Be Vietnam Pro" pitchFamily="34" charset="-120"/>
              </a:rPr>
              <a:t>StandardScaler for Logistic Regression and SVM, MinMaxScaler for KNN, no scaling for trees.</a:t>
            </a:r>
            <a:endParaRPr lang="en-US" sz="1400" dirty="0"/>
          </a:p>
        </p:txBody>
      </p:sp>
      <p:sp>
        <p:nvSpPr>
          <p:cNvPr id="12" name="Text 10"/>
          <p:cNvSpPr/>
          <p:nvPr/>
        </p:nvSpPr>
        <p:spPr>
          <a:xfrm>
            <a:off x="812800" y="4545332"/>
            <a:ext cx="155733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B5651D"/>
                </a:solidFill>
                <a:latin typeface="Be Vietnam Pro" pitchFamily="34" charset="0"/>
                <a:ea typeface="Be Vietnam Pro" pitchFamily="34" charset="-122"/>
                <a:cs typeface="Be Vietnam Pro" pitchFamily="34" charset="-120"/>
              </a:rPr>
              <a:t>152</a:t>
            </a:r>
            <a:endParaRPr lang="en-US" sz="6000" dirty="0"/>
          </a:p>
        </p:txBody>
      </p:sp>
      <p:sp>
        <p:nvSpPr>
          <p:cNvPr id="13" name="Text 11"/>
          <p:cNvSpPr/>
          <p:nvPr/>
        </p:nvSpPr>
        <p:spPr>
          <a:xfrm>
            <a:off x="2370138" y="4956811"/>
            <a:ext cx="563213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F5967"/>
                </a:solidFill>
                <a:latin typeface="Be Vietnam Pro" pitchFamily="34" charset="0"/>
                <a:ea typeface="Be Vietnam Pro" pitchFamily="34" charset="-122"/>
                <a:cs typeface="Be Vietnam Pro" pitchFamily="34" charset="-120"/>
              </a:rPr>
              <a:t>input columns shared by all five models, before scaling</a:t>
            </a:r>
            <a:endParaRPr lang="en-US" sz="1400" dirty="0"/>
          </a:p>
        </p:txBody>
      </p:sp>
      <p:sp>
        <p:nvSpPr>
          <p:cNvPr id="14" name="Text 12"/>
          <p:cNvSpPr/>
          <p:nvPr/>
        </p:nvSpPr>
        <p:spPr>
          <a:xfrm>
            <a:off x="812800" y="6238239"/>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967"/>
                </a:solidFill>
                <a:latin typeface="Be Vietnam Pro" pitchFamily="34" charset="0"/>
                <a:ea typeface="Be Vietnam Pro" pitchFamily="34" charset="-122"/>
                <a:cs typeface="Be Vietnam Pro" pitchFamily="34" charset="-120"/>
              </a:rPr>
              <a:t>05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0065"/>
          </a:xfrm>
          <a:prstGeom prst="rect">
            <a:avLst/>
          </a:prstGeom>
          <a:noFill/>
          <a:ln/>
        </p:spPr>
        <p:txBody>
          <a:bodyPr wrap="square" lIns="0" tIns="0" rIns="0" bIns="0" rtlCol="0" anchor="t">
            <a:normAutofit/>
          </a:bodyPr>
          <a:lstStyle/>
          <a:p>
            <a:pPr algn="l" indent="0" marL="0">
              <a:lnSpc>
                <a:spcPts val="3923"/>
              </a:lnSpc>
              <a:buNone/>
            </a:pPr>
            <a:r>
              <a:rPr lang="en-US" sz="3566" b="1" i="0" dirty="0">
                <a:solidFill>
                  <a:srgbClr val="1D2430"/>
                </a:solidFill>
                <a:latin typeface="Be Vietnam Pro" pitchFamily="34" charset="0"/>
                <a:ea typeface="Be Vietnam Pro" pitchFamily="34" charset="-122"/>
                <a:cs typeface="Be Vietnam Pro" pitchFamily="34" charset="-120"/>
              </a:rPr>
              <a:t>Five model families and 76 configurations</a:t>
            </a:r>
            <a:endParaRPr lang="en-US" sz="3566"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622424"/>
          <a:ext cx="10556240" cy="3407648"/>
        </p:xfrm>
        <a:graphic>
          <a:graphicData uri="http://schemas.openxmlformats.org/drawingml/2006/table">
            <a:tbl>
              <a:tblPr/>
              <a:tblGrid>
                <a:gridCol w="3518747"/>
                <a:gridCol w="3518747"/>
                <a:gridCol w="3518747"/>
              </a:tblGrid>
              <a:tr h="444659">
                <a:tc>
                  <a:txBody>
                    <a:bodyPr/>
                    <a:lstStyle/>
                    <a:p>
                      <a:pPr indent="0" marL="0">
                        <a:lnSpc>
                          <a:spcPts val="1942"/>
                        </a:lnSpc>
                        <a:buNone/>
                      </a:pPr>
                      <a:r>
                        <a:rPr lang="en-US" sz="1387" b="1" dirty="0">
                          <a:solidFill>
                            <a:srgbClr val="1D2430"/>
                          </a:solidFill>
                          <a:latin typeface="Be Vietnam Pro" pitchFamily="34" charset="0"/>
                          <a:ea typeface="Be Vietnam Pro" pitchFamily="34" charset="-122"/>
                          <a:cs typeface="Be Vietnam Pro" pitchFamily="34" charset="-120"/>
                        </a:rPr>
                        <a:t>Model</a:t>
                      </a:r>
                      <a:endParaRPr lang="en-US" sz="1387"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42"/>
                        </a:lnSpc>
                        <a:buNone/>
                      </a:pPr>
                      <a:r>
                        <a:rPr lang="en-US" sz="1387" b="1" dirty="0">
                          <a:solidFill>
                            <a:srgbClr val="1D2430"/>
                          </a:solidFill>
                          <a:latin typeface="Be Vietnam Pro" pitchFamily="34" charset="0"/>
                          <a:ea typeface="Be Vietnam Pro" pitchFamily="34" charset="-122"/>
                          <a:cs typeface="Be Vietnam Pro" pitchFamily="34" charset="-120"/>
                        </a:rPr>
                        <a:t>Hyperparameters searched</a:t>
                      </a:r>
                      <a:endParaRPr lang="en-US" sz="1387" dirty="0">
                        <a:latin typeface="Be Vietnam Pro" charset="0"/>
                        <a:ea typeface="Be Vietnam Pro" charset="0"/>
                        <a:cs typeface="Be Vietnam Pro" charset="0"/>
                      </a:endParaRPr>
                    </a:p>
                  </a:txBody>
                  <a:tcPr marL="76200" marR="76200" marT="76200" marB="7620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42"/>
                        </a:lnSpc>
                        <a:buNone/>
                      </a:pPr>
                      <a:r>
                        <a:rPr lang="en-US" sz="1387" b="1" dirty="0">
                          <a:solidFill>
                            <a:srgbClr val="1D2430"/>
                          </a:solidFill>
                          <a:latin typeface="Be Vietnam Pro" pitchFamily="34" charset="0"/>
                          <a:ea typeface="Be Vietnam Pro" pitchFamily="34" charset="-122"/>
                          <a:cs typeface="Be Vietnam Pro" pitchFamily="34" charset="-120"/>
                        </a:rPr>
                        <a:t>Configs</a:t>
                      </a:r>
                      <a:endParaRPr lang="en-US" sz="1387" dirty="0">
                        <a:latin typeface="Be Vietnam Pro" charset="0"/>
                        <a:ea typeface="Be Vietnam Pro" charset="0"/>
                        <a:cs typeface="Be Vietnam Pro" charset="0"/>
                      </a:endParaRPr>
                    </a:p>
                  </a:txBody>
                  <a:tcPr marL="76200" marR="76200" marT="76200" marB="7620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444659">
                <a:tc>
                  <a:txBody>
                    <a:bodyPr/>
                    <a:lstStyle/>
                    <a:p>
                      <a:pPr indent="0" marL="0">
                        <a:lnSpc>
                          <a:spcPts val="1942"/>
                        </a:lnSpc>
                        <a:buNone/>
                      </a:pPr>
                      <a:r>
                        <a:rPr lang="en-US" sz="1387" dirty="0">
                          <a:solidFill>
                            <a:srgbClr val="1D2430"/>
                          </a:solidFill>
                          <a:latin typeface="Be Vietnam Pro" pitchFamily="34" charset="0"/>
                          <a:ea typeface="Be Vietnam Pro" pitchFamily="34" charset="-122"/>
                          <a:cs typeface="Be Vietnam Pro" pitchFamily="34" charset="-120"/>
                        </a:rPr>
                        <a:t>Logistic Regression</a:t>
                      </a:r>
                      <a:endParaRPr lang="en-US" sz="1387"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42"/>
                        </a:lnSpc>
                        <a:buNone/>
                      </a:pPr>
                      <a:r>
                        <a:rPr lang="en-US" sz="1387" dirty="0">
                          <a:solidFill>
                            <a:srgbClr val="1D2430"/>
                          </a:solidFill>
                          <a:latin typeface="Be Vietnam Pro" pitchFamily="34" charset="0"/>
                          <a:ea typeface="Be Vietnam Pro" pitchFamily="34" charset="-122"/>
                          <a:cs typeface="Be Vietnam Pro" pitchFamily="34" charset="-120"/>
                        </a:rPr>
                        <a:t>C ∈ {0.01, 0.1, 1, 10}, penalty L1 or L2</a:t>
                      </a:r>
                      <a:endParaRPr lang="en-US" sz="1387"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42"/>
                        </a:lnSpc>
                        <a:buNone/>
                      </a:pPr>
                      <a:r>
                        <a:rPr lang="en-US" sz="1387" dirty="0">
                          <a:solidFill>
                            <a:srgbClr val="1D2430"/>
                          </a:solidFill>
                          <a:latin typeface="Be Vietnam Pro" pitchFamily="34" charset="0"/>
                          <a:ea typeface="Be Vietnam Pro" pitchFamily="34" charset="-122"/>
                          <a:cs typeface="Be Vietnam Pro" pitchFamily="34" charset="-120"/>
                        </a:rPr>
                        <a:t>8</a:t>
                      </a:r>
                      <a:endParaRPr lang="en-US" sz="1387"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691197">
                <a:tc>
                  <a:txBody>
                    <a:bodyPr/>
                    <a:lstStyle/>
                    <a:p>
                      <a:pPr indent="0" marL="0">
                        <a:lnSpc>
                          <a:spcPts val="1942"/>
                        </a:lnSpc>
                        <a:buNone/>
                      </a:pPr>
                      <a:r>
                        <a:rPr lang="en-US" sz="1387" dirty="0">
                          <a:solidFill>
                            <a:srgbClr val="1D2430"/>
                          </a:solidFill>
                          <a:latin typeface="Be Vietnam Pro" pitchFamily="34" charset="0"/>
                          <a:ea typeface="Be Vietnam Pro" pitchFamily="34" charset="-122"/>
                          <a:cs typeface="Be Vietnam Pro" pitchFamily="34" charset="-120"/>
                        </a:rPr>
                        <a:t>KNN</a:t>
                      </a:r>
                      <a:endParaRPr lang="en-US" sz="1387"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42"/>
                        </a:lnSpc>
                        <a:buNone/>
                      </a:pPr>
                      <a:r>
                        <a:rPr lang="en-US" sz="1387" dirty="0">
                          <a:solidFill>
                            <a:srgbClr val="1D2430"/>
                          </a:solidFill>
                          <a:latin typeface="Be Vietnam Pro" pitchFamily="34" charset="0"/>
                          <a:ea typeface="Be Vietnam Pro" pitchFamily="34" charset="-122"/>
                          <a:cs typeface="Be Vietnam Pro" pitchFamily="34" charset="-120"/>
                        </a:rPr>
                        <a:t>k ∈ {3, 5, …, 15}; uniform or distance weights; Euclidean or Manhattan</a:t>
                      </a:r>
                      <a:endParaRPr lang="en-US" sz="1387"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42"/>
                        </a:lnSpc>
                        <a:buNone/>
                      </a:pPr>
                      <a:r>
                        <a:rPr lang="en-US" sz="1387" dirty="0">
                          <a:solidFill>
                            <a:srgbClr val="1D2430"/>
                          </a:solidFill>
                          <a:latin typeface="Be Vietnam Pro" pitchFamily="34" charset="0"/>
                          <a:ea typeface="Be Vietnam Pro" pitchFamily="34" charset="-122"/>
                          <a:cs typeface="Be Vietnam Pro" pitchFamily="34" charset="-120"/>
                        </a:rPr>
                        <a:t>28</a:t>
                      </a:r>
                      <a:endParaRPr lang="en-US" sz="1387"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691197">
                <a:tc>
                  <a:txBody>
                    <a:bodyPr/>
                    <a:lstStyle/>
                    <a:p>
                      <a:pPr indent="0" marL="0">
                        <a:lnSpc>
                          <a:spcPts val="1942"/>
                        </a:lnSpc>
                        <a:buNone/>
                      </a:pPr>
                      <a:r>
                        <a:rPr lang="en-US" sz="1387" dirty="0">
                          <a:solidFill>
                            <a:srgbClr val="1D2430"/>
                          </a:solidFill>
                          <a:latin typeface="Be Vietnam Pro" pitchFamily="34" charset="0"/>
                          <a:ea typeface="Be Vietnam Pro" pitchFamily="34" charset="-122"/>
                          <a:cs typeface="Be Vietnam Pro" pitchFamily="34" charset="-120"/>
                        </a:rPr>
                        <a:t>Decision Tree</a:t>
                      </a:r>
                      <a:endParaRPr lang="en-US" sz="1387"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42"/>
                        </a:lnSpc>
                        <a:buNone/>
                      </a:pPr>
                      <a:r>
                        <a:rPr lang="en-US" sz="1387" dirty="0">
                          <a:solidFill>
                            <a:srgbClr val="1D2430"/>
                          </a:solidFill>
                          <a:latin typeface="Be Vietnam Pro" pitchFamily="34" charset="0"/>
                          <a:ea typeface="Be Vietnam Pro" pitchFamily="34" charset="-122"/>
                          <a:cs typeface="Be Vietnam Pro" pitchFamily="34" charset="-120"/>
                        </a:rPr>
                        <a:t>gini or entropy; depth {3 … 25, unlimited}</a:t>
                      </a:r>
                      <a:endParaRPr lang="en-US" sz="1387"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42"/>
                        </a:lnSpc>
                        <a:buNone/>
                      </a:pPr>
                      <a:r>
                        <a:rPr lang="en-US" sz="1387" dirty="0">
                          <a:solidFill>
                            <a:srgbClr val="1D2430"/>
                          </a:solidFill>
                          <a:latin typeface="Be Vietnam Pro" pitchFamily="34" charset="0"/>
                          <a:ea typeface="Be Vietnam Pro" pitchFamily="34" charset="-122"/>
                          <a:cs typeface="Be Vietnam Pro" pitchFamily="34" charset="-120"/>
                        </a:rPr>
                        <a:t>16</a:t>
                      </a:r>
                      <a:endParaRPr lang="en-US" sz="1387"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691197">
                <a:tc>
                  <a:txBody>
                    <a:bodyPr/>
                    <a:lstStyle/>
                    <a:p>
                      <a:pPr indent="0" marL="0">
                        <a:lnSpc>
                          <a:spcPts val="1942"/>
                        </a:lnSpc>
                        <a:buNone/>
                      </a:pPr>
                      <a:r>
                        <a:rPr lang="en-US" sz="1387" dirty="0">
                          <a:solidFill>
                            <a:srgbClr val="1D2430"/>
                          </a:solidFill>
                          <a:latin typeface="Be Vietnam Pro" pitchFamily="34" charset="0"/>
                          <a:ea typeface="Be Vietnam Pro" pitchFamily="34" charset="-122"/>
                          <a:cs typeface="Be Vietnam Pro" pitchFamily="34" charset="-120"/>
                        </a:rPr>
                        <a:t>Random Forest</a:t>
                      </a:r>
                      <a:endParaRPr lang="en-US" sz="1387"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42"/>
                        </a:lnSpc>
                        <a:buNone/>
                      </a:pPr>
                      <a:r>
                        <a:rPr lang="en-US" sz="1387" dirty="0">
                          <a:solidFill>
                            <a:srgbClr val="1D2430"/>
                          </a:solidFill>
                          <a:latin typeface="Be Vietnam Pro" pitchFamily="34" charset="0"/>
                          <a:ea typeface="Be Vietnam Pro" pitchFamily="34" charset="-122"/>
                          <a:cs typeface="Be Vietnam Pro" pitchFamily="34" charset="-120"/>
                        </a:rPr>
                        <a:t>100 or 200 trees; depth {5, 10, 15, unlimited}; max_features sqrt or log2</a:t>
                      </a:r>
                      <a:endParaRPr lang="en-US" sz="1387"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42"/>
                        </a:lnSpc>
                        <a:buNone/>
                      </a:pPr>
                      <a:r>
                        <a:rPr lang="en-US" sz="1387" dirty="0">
                          <a:solidFill>
                            <a:srgbClr val="1D2430"/>
                          </a:solidFill>
                          <a:latin typeface="Be Vietnam Pro" pitchFamily="34" charset="0"/>
                          <a:ea typeface="Be Vietnam Pro" pitchFamily="34" charset="-122"/>
                          <a:cs typeface="Be Vietnam Pro" pitchFamily="34" charset="-120"/>
                        </a:rPr>
                        <a:t>16</a:t>
                      </a:r>
                      <a:endParaRPr lang="en-US" sz="1387"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444738">
                <a:tc>
                  <a:txBody>
                    <a:bodyPr/>
                    <a:lstStyle/>
                    <a:p>
                      <a:pPr indent="0" marL="0">
                        <a:lnSpc>
                          <a:spcPts val="1942"/>
                        </a:lnSpc>
                        <a:buNone/>
                      </a:pPr>
                      <a:r>
                        <a:rPr lang="en-US" sz="1387" dirty="0">
                          <a:solidFill>
                            <a:srgbClr val="1D2430"/>
                          </a:solidFill>
                          <a:latin typeface="Be Vietnam Pro" pitchFamily="34" charset="0"/>
                          <a:ea typeface="Be Vietnam Pro" pitchFamily="34" charset="-122"/>
                          <a:cs typeface="Be Vietnam Pro" pitchFamily="34" charset="-120"/>
                        </a:rPr>
                        <a:t>SVM</a:t>
                      </a:r>
                      <a:endParaRPr lang="en-US" sz="1387"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42"/>
                        </a:lnSpc>
                        <a:buNone/>
                      </a:pPr>
                      <a:r>
                        <a:rPr lang="en-US" sz="1387" dirty="0">
                          <a:solidFill>
                            <a:srgbClr val="1D2430"/>
                          </a:solidFill>
                          <a:latin typeface="Be Vietnam Pro" pitchFamily="34" charset="0"/>
                          <a:ea typeface="Be Vietnam Pro" pitchFamily="34" charset="-122"/>
                          <a:cs typeface="Be Vietnam Pro" pitchFamily="34" charset="-120"/>
                        </a:rPr>
                        <a:t>C ∈ {0.01, 0.1, 1, 10}, linear or RBF kernel</a:t>
                      </a:r>
                      <a:endParaRPr lang="en-US" sz="1387"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42"/>
                        </a:lnSpc>
                        <a:buNone/>
                      </a:pPr>
                      <a:r>
                        <a:rPr lang="en-US" sz="1387" dirty="0">
                          <a:solidFill>
                            <a:srgbClr val="1D2430"/>
                          </a:solidFill>
                          <a:latin typeface="Be Vietnam Pro" pitchFamily="34" charset="0"/>
                          <a:ea typeface="Be Vietnam Pro" pitchFamily="34" charset="-122"/>
                          <a:cs typeface="Be Vietnam Pro" pitchFamily="34" charset="-120"/>
                        </a:rPr>
                        <a:t>8</a:t>
                      </a:r>
                      <a:endParaRPr lang="en-US" sz="1387"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4" name="Text 1"/>
          <p:cNvSpPr/>
          <p:nvPr/>
        </p:nvSpPr>
        <p:spPr>
          <a:xfrm>
            <a:off x="812800" y="5334874"/>
            <a:ext cx="10883392" cy="532527"/>
          </a:xfrm>
          <a:prstGeom prst="rect">
            <a:avLst/>
          </a:prstGeom>
          <a:noFill/>
          <a:ln/>
        </p:spPr>
        <p:txBody>
          <a:bodyPr wrap="square" lIns="0" tIns="0" rIns="0" bIns="0" rtlCol="0" anchor="t">
            <a:normAutofit/>
          </a:bodyPr>
          <a:lstStyle/>
          <a:p>
            <a:pPr algn="l" indent="0" marL="0">
              <a:lnSpc>
                <a:spcPts val="2011"/>
              </a:lnSpc>
              <a:buNone/>
            </a:pPr>
            <a:r>
              <a:rPr lang="en-US" sz="1387" dirty="0">
                <a:solidFill>
                  <a:srgbClr val="1D2430"/>
                </a:solidFill>
                <a:latin typeface="Be Vietnam Pro" pitchFamily="34" charset="0"/>
                <a:ea typeface="Be Vietnam Pro" pitchFamily="34" charset="-122"/>
                <a:cs typeface="Be Vietnam Pro" pitchFamily="34" charset="-120"/>
              </a:rPr>
              <a:t>Every configuration is trained on the dev set and scored on validation using AP. Models that support it use class_weight = balanced.</a:t>
            </a:r>
            <a:endParaRPr lang="en-US" sz="1387" dirty="0"/>
          </a:p>
        </p:txBody>
      </p:sp>
      <p:sp>
        <p:nvSpPr>
          <p:cNvPr id="5" name="Text 2"/>
          <p:cNvSpPr/>
          <p:nvPr/>
        </p:nvSpPr>
        <p:spPr>
          <a:xfrm>
            <a:off x="812800" y="6238239"/>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967"/>
                </a:solidFill>
                <a:latin typeface="Be Vietnam Pro" pitchFamily="34" charset="0"/>
                <a:ea typeface="Be Vietnam Pro" pitchFamily="34" charset="-122"/>
                <a:cs typeface="Be Vietnam Pro" pitchFamily="34" charset="-120"/>
              </a:rPr>
              <a:t>06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0"/>
                </a:solidFill>
                <a:latin typeface="Be Vietnam Pro" pitchFamily="34" charset="0"/>
                <a:ea typeface="Be Vietnam Pro" pitchFamily="34" charset="-122"/>
                <a:cs typeface="Be Vietnam Pro" pitchFamily="34" charset="-120"/>
              </a:rPr>
              <a:t>Logistic Regression leads on validation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630681"/>
          <a:ext cx="10556240" cy="2468880"/>
        </p:xfrm>
        <a:graphic>
          <a:graphicData uri="http://schemas.openxmlformats.org/drawingml/2006/table">
            <a:tbl>
              <a:tblPr/>
              <a:tblGrid>
                <a:gridCol w="2111248"/>
                <a:gridCol w="2111248"/>
                <a:gridCol w="2111248"/>
                <a:gridCol w="2111248"/>
                <a:gridCol w="2111248"/>
              </a:tblGrid>
              <a:tr h="411480">
                <a:tc>
                  <a:txBody>
                    <a:bodyPr/>
                    <a:lstStyle/>
                    <a:p>
                      <a:pPr indent="0" marL="0">
                        <a:lnSpc>
                          <a:spcPts val="1960"/>
                        </a:lnSpc>
                        <a:buNone/>
                      </a:pPr>
                      <a:r>
                        <a:rPr lang="en-US" sz="1400" b="1" dirty="0">
                          <a:solidFill>
                            <a:srgbClr val="1D2430"/>
                          </a:solidFill>
                          <a:latin typeface="Be Vietnam Pro" pitchFamily="34" charset="0"/>
                          <a:ea typeface="Be Vietnam Pro" pitchFamily="34" charset="-122"/>
                          <a:cs typeface="Be Vietnam Pro" pitchFamily="34" charset="-120"/>
                        </a:rPr>
                        <a:t>Model</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60"/>
                        </a:lnSpc>
                        <a:buNone/>
                      </a:pPr>
                      <a:r>
                        <a:rPr lang="en-US" sz="1400" b="1" dirty="0">
                          <a:solidFill>
                            <a:srgbClr val="1D2430"/>
                          </a:solidFill>
                          <a:latin typeface="Be Vietnam Pro" pitchFamily="34" charset="0"/>
                          <a:ea typeface="Be Vietnam Pro" pitchFamily="34" charset="-122"/>
                          <a:cs typeface="Be Vietnam Pro" pitchFamily="34" charset="-120"/>
                        </a:rPr>
                        <a:t>AP train</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60"/>
                        </a:lnSpc>
                        <a:buNone/>
                      </a:pPr>
                      <a:r>
                        <a:rPr lang="en-US" sz="1400" b="1" dirty="0">
                          <a:solidFill>
                            <a:srgbClr val="1D2430"/>
                          </a:solidFill>
                          <a:latin typeface="Be Vietnam Pro" pitchFamily="34" charset="0"/>
                          <a:ea typeface="Be Vietnam Pro" pitchFamily="34" charset="-122"/>
                          <a:cs typeface="Be Vietnam Pro" pitchFamily="34" charset="-120"/>
                        </a:rPr>
                        <a:t>AP validation</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60"/>
                        </a:lnSpc>
                        <a:buNone/>
                      </a:pPr>
                      <a:r>
                        <a:rPr lang="en-US" sz="1400" b="1" dirty="0">
                          <a:solidFill>
                            <a:srgbClr val="1D2430"/>
                          </a:solidFill>
                          <a:latin typeface="Be Vietnam Pro" pitchFamily="34" charset="0"/>
                          <a:ea typeface="Be Vietnam Pro" pitchFamily="34" charset="-122"/>
                          <a:cs typeface="Be Vietnam Pro" pitchFamily="34" charset="-120"/>
                        </a:rPr>
                        <a:t>ROC-AUC validation</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60"/>
                        </a:lnSpc>
                        <a:buNone/>
                      </a:pPr>
                      <a:r>
                        <a:rPr lang="en-US" sz="1400" b="1" dirty="0">
                          <a:solidFill>
                            <a:srgbClr val="1D2430"/>
                          </a:solidFill>
                          <a:latin typeface="Be Vietnam Pro" pitchFamily="34" charset="0"/>
                          <a:ea typeface="Be Vietnam Pro" pitchFamily="34" charset="-122"/>
                          <a:cs typeface="Be Vietnam Pro" pitchFamily="34" charset="-120"/>
                        </a:rPr>
                        <a:t>Best configuration</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411480">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Logistic Regression</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0.2160</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0.2769</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0.8245</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C = 0.01, L1</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411480">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Random Forest</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0.3081</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0.2440</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0.8052</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100 trees, depth 5</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411480">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SVM</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0.2188</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0.2158</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0.7865</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C = 0.01, RBF</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411480">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Decision Tree</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0.1568</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0.1700</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0.7701</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entropy, depth 3</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411480">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KNN</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0.2279</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0.1613</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0.7140</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k = 15, Manhattan</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4" name="Text 1"/>
          <p:cNvSpPr/>
          <p:nvPr/>
        </p:nvSpPr>
        <p:spPr>
          <a:xfrm>
            <a:off x="812800" y="4404361"/>
            <a:ext cx="10883392"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D2430"/>
                </a:solidFill>
                <a:latin typeface="Be Vietnam Pro" pitchFamily="34" charset="0"/>
                <a:ea typeface="Be Vietnam Pro" pitchFamily="34" charset="-122"/>
                <a:cs typeface="Be Vietnam Pro" pitchFamily="34" charset="-120"/>
              </a:rPr>
              <a:t>Stronger regularization performs better. KNN and Random Forest have training AP about 0.064–0.067 above their validation AP, a sign of overfitting.</a:t>
            </a:r>
            <a:endParaRPr lang="en-US" sz="1400" dirty="0"/>
          </a:p>
        </p:txBody>
      </p:sp>
      <p:sp>
        <p:nvSpPr>
          <p:cNvPr id="5" name="Text 2"/>
          <p:cNvSpPr/>
          <p:nvPr/>
        </p:nvSpPr>
        <p:spPr>
          <a:xfrm>
            <a:off x="812800" y="6238239"/>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967"/>
                </a:solidFill>
                <a:latin typeface="Be Vietnam Pro" pitchFamily="34" charset="0"/>
                <a:ea typeface="Be Vietnam Pro" pitchFamily="34" charset="-122"/>
                <a:cs typeface="Be Vietnam Pro" pitchFamily="34" charset="-120"/>
              </a:rPr>
              <a:t>07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D2430"/>
                </a:solidFill>
                <a:latin typeface="Be Vietnam Pro" pitchFamily="34" charset="0"/>
                <a:ea typeface="Be Vietnam Pro" pitchFamily="34" charset="-122"/>
                <a:cs typeface="Be Vietnam Pro" pitchFamily="34" charset="-120"/>
              </a:rPr>
              <a:t>Feature selection by IV: small gains, model-dependent</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2133599"/>
          <a:ext cx="10556240" cy="2468880"/>
        </p:xfrm>
        <a:graphic>
          <a:graphicData uri="http://schemas.openxmlformats.org/drawingml/2006/table">
            <a:tbl>
              <a:tblPr/>
              <a:tblGrid>
                <a:gridCol w="2111248"/>
                <a:gridCol w="2111248"/>
                <a:gridCol w="2111248"/>
                <a:gridCol w="2111248"/>
                <a:gridCol w="2111248"/>
              </a:tblGrid>
              <a:tr h="411480">
                <a:tc>
                  <a:txBody>
                    <a:bodyPr/>
                    <a:lstStyle/>
                    <a:p>
                      <a:pPr indent="0" marL="0">
                        <a:lnSpc>
                          <a:spcPts val="1960"/>
                        </a:lnSpc>
                        <a:buNone/>
                      </a:pPr>
                      <a:r>
                        <a:rPr lang="en-US" sz="1400" b="1" dirty="0">
                          <a:solidFill>
                            <a:srgbClr val="1D2430"/>
                          </a:solidFill>
                          <a:latin typeface="Be Vietnam Pro" pitchFamily="34" charset="0"/>
                          <a:ea typeface="Be Vietnam Pro" pitchFamily="34" charset="-122"/>
                          <a:cs typeface="Be Vietnam Pro" pitchFamily="34" charset="-120"/>
                        </a:rPr>
                        <a:t>Model (validation AP)</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60"/>
                        </a:lnSpc>
                        <a:buNone/>
                      </a:pPr>
                      <a:r>
                        <a:rPr lang="en-US" sz="1400" b="1" dirty="0">
                          <a:solidFill>
                            <a:srgbClr val="1D2430"/>
                          </a:solidFill>
                          <a:latin typeface="Be Vietnam Pro" pitchFamily="34" charset="0"/>
                          <a:ea typeface="Be Vietnam Pro" pitchFamily="34" charset="-122"/>
                          <a:cs typeface="Be Vietnam Pro" pitchFamily="34" charset="-120"/>
                        </a:rPr>
                        <a:t>Full, 152 columns</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60"/>
                        </a:lnSpc>
                        <a:buNone/>
                      </a:pPr>
                      <a:r>
                        <a:rPr lang="en-US" sz="1400" b="1" dirty="0">
                          <a:solidFill>
                            <a:srgbClr val="1D2430"/>
                          </a:solidFill>
                          <a:latin typeface="Be Vietnam Pro" pitchFamily="34" charset="0"/>
                          <a:ea typeface="Be Vietnam Pro" pitchFamily="34" charset="-122"/>
                          <a:cs typeface="Be Vietnam Pro" pitchFamily="34" charset="-120"/>
                        </a:rPr>
                        <a:t>E1: 10 variables</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60"/>
                        </a:lnSpc>
                        <a:buNone/>
                      </a:pPr>
                      <a:r>
                        <a:rPr lang="en-US" sz="1400" b="1" dirty="0">
                          <a:solidFill>
                            <a:srgbClr val="1D2430"/>
                          </a:solidFill>
                          <a:latin typeface="Be Vietnam Pro" pitchFamily="34" charset="0"/>
                          <a:ea typeface="Be Vietnam Pro" pitchFamily="34" charset="-122"/>
                          <a:cs typeface="Be Vietnam Pro" pitchFamily="34" charset="-120"/>
                        </a:rPr>
                        <a:t>E2: 21 variables</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indent="0" marL="0">
                        <a:lnSpc>
                          <a:spcPts val="1960"/>
                        </a:lnSpc>
                        <a:buNone/>
                      </a:pPr>
                      <a:r>
                        <a:rPr lang="en-US" sz="1400" b="1" dirty="0">
                          <a:solidFill>
                            <a:srgbClr val="1D2430"/>
                          </a:solidFill>
                          <a:latin typeface="Be Vietnam Pro" pitchFamily="34" charset="0"/>
                          <a:ea typeface="Be Vietnam Pro" pitchFamily="34" charset="-122"/>
                          <a:cs typeface="Be Vietnam Pro" pitchFamily="34" charset="-120"/>
                        </a:rPr>
                        <a:t>E3: 31 variables</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r>
              <a:tr h="411480">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Logistic Regression</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0.2769</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0.2603</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0.2716</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0.2804</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411480">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Random Forest</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0.2440</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0.2276</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0.2297</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0.2385</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411480">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SVM</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0.2158</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0.2220</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0.2342</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0.2257</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411480">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Decision Tree</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0.1700</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0.1785</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0.1694</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0.1692</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411480">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KNN</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0.1613</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0.1383</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0.1475</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960"/>
                        </a:lnSpc>
                        <a:buNone/>
                      </a:pPr>
                      <a:r>
                        <a:rPr lang="en-US" sz="1400" dirty="0">
                          <a:solidFill>
                            <a:srgbClr val="1D2430"/>
                          </a:solidFill>
                          <a:latin typeface="Be Vietnam Pro" pitchFamily="34" charset="0"/>
                          <a:ea typeface="Be Vietnam Pro" pitchFamily="34" charset="-122"/>
                          <a:cs typeface="Be Vietnam Pro" pitchFamily="34" charset="-120"/>
                        </a:rPr>
                        <a:t>0.1533</a:t>
                      </a:r>
                      <a:endParaRPr lang="en-US" sz="1400" dirty="0">
                        <a:latin typeface="Be Vietnam Pro" charset="0"/>
                        <a:ea typeface="Be Vietnam Pro" charset="0"/>
                        <a:cs typeface="Be Vietnam Pro" charset="0"/>
                      </a:endParaRPr>
                    </a:p>
                  </a:txBody>
                  <a:tcPr marL="76200" marR="76200" marT="76200" marB="7620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4" name="Text 1"/>
          <p:cNvSpPr/>
          <p:nvPr/>
        </p:nvSpPr>
        <p:spPr>
          <a:xfrm>
            <a:off x="812800" y="4907279"/>
            <a:ext cx="10883392"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D2430"/>
                </a:solidFill>
                <a:latin typeface="Be Vietnam Pro" pitchFamily="34" charset="0"/>
                <a:ea typeface="Be Vietnam Pro" pitchFamily="34" charset="-122"/>
                <a:cs typeface="Be Vietnam Pro" pitchFamily="34" charset="-120"/>
              </a:rPr>
              <a:t>No subset changes AP by more than 0.025 relative to the baseline. Random Forest and KNN do best with all features; the other models change only slightly.</a:t>
            </a:r>
            <a:endParaRPr lang="en-US" sz="1400" dirty="0"/>
          </a:p>
        </p:txBody>
      </p:sp>
      <p:sp>
        <p:nvSpPr>
          <p:cNvPr id="5" name="Text 2"/>
          <p:cNvSpPr/>
          <p:nvPr/>
        </p:nvSpPr>
        <p:spPr>
          <a:xfrm>
            <a:off x="812800" y="6238242"/>
            <a:ext cx="2616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5967"/>
                </a:solidFill>
                <a:latin typeface="Be Vietnam Pro" pitchFamily="34" charset="0"/>
                <a:ea typeface="Be Vietnam Pro" pitchFamily="34" charset="-122"/>
                <a:cs typeface="Be Vietnam Pro" pitchFamily="34" charset="-120"/>
              </a:rPr>
              <a:t>08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3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5F1"/>
                </a:solidFill>
                <a:latin typeface="Be Vietnam Pro" pitchFamily="34" charset="0"/>
                <a:ea typeface="Be Vietnam Pro" pitchFamily="34" charset="-122"/>
                <a:cs typeface="Be Vietnam Pro" pitchFamily="34" charset="-120"/>
              </a:rPr>
              <a:t>On the test set: AP 0.1532, 2.6× the random baseline</a:t>
            </a:r>
            <a:endParaRPr lang="en-US" sz="3600" dirty="0"/>
          </a:p>
        </p:txBody>
      </p:sp>
      <p:sp>
        <p:nvSpPr>
          <p:cNvPr id="3" name="Text 1"/>
          <p:cNvSpPr/>
          <p:nvPr/>
        </p:nvSpPr>
        <p:spPr>
          <a:xfrm>
            <a:off x="812800" y="2174242"/>
            <a:ext cx="523240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0A25A"/>
                </a:solidFill>
                <a:latin typeface="Be Vietnam Pro" pitchFamily="34" charset="0"/>
                <a:ea typeface="Be Vietnam Pro" pitchFamily="34" charset="-122"/>
                <a:cs typeface="Be Vietnam Pro" pitchFamily="34" charset="-120"/>
              </a:rPr>
              <a:t>0.1532</a:t>
            </a:r>
            <a:endParaRPr lang="en-US" sz="6000" dirty="0"/>
          </a:p>
        </p:txBody>
      </p:sp>
      <p:sp>
        <p:nvSpPr>
          <p:cNvPr id="4" name="Text 2"/>
          <p:cNvSpPr/>
          <p:nvPr/>
        </p:nvSpPr>
        <p:spPr>
          <a:xfrm>
            <a:off x="812800" y="3037842"/>
            <a:ext cx="52324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7E0E8"/>
                </a:solidFill>
                <a:latin typeface="Be Vietnam Pro" pitchFamily="34" charset="0"/>
                <a:ea typeface="Be Vietnam Pro" pitchFamily="34" charset="-122"/>
                <a:cs typeface="Be Vietnam Pro" pitchFamily="34" charset="-120"/>
              </a:rPr>
              <a:t>Average Precision (random baseline: 0.0595)</a:t>
            </a:r>
            <a:endParaRPr lang="en-US" sz="1400" dirty="0"/>
          </a:p>
        </p:txBody>
      </p:sp>
      <p:sp>
        <p:nvSpPr>
          <p:cNvPr id="5" name="Text 3"/>
          <p:cNvSpPr/>
          <p:nvPr/>
        </p:nvSpPr>
        <p:spPr>
          <a:xfrm>
            <a:off x="6299200" y="2174242"/>
            <a:ext cx="523240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0A25A"/>
                </a:solidFill>
                <a:latin typeface="Be Vietnam Pro" pitchFamily="34" charset="0"/>
                <a:ea typeface="Be Vietnam Pro" pitchFamily="34" charset="-122"/>
                <a:cs typeface="Be Vietnam Pro" pitchFamily="34" charset="-120"/>
              </a:rPr>
              <a:t>0.7278</a:t>
            </a:r>
            <a:endParaRPr lang="en-US" sz="6000" dirty="0"/>
          </a:p>
        </p:txBody>
      </p:sp>
      <p:sp>
        <p:nvSpPr>
          <p:cNvPr id="6" name="Text 4"/>
          <p:cNvSpPr/>
          <p:nvPr/>
        </p:nvSpPr>
        <p:spPr>
          <a:xfrm>
            <a:off x="6299200" y="3037842"/>
            <a:ext cx="52324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D7E0E8"/>
                </a:solidFill>
                <a:latin typeface="Be Vietnam Pro" pitchFamily="34" charset="0"/>
                <a:ea typeface="Be Vietnam Pro" pitchFamily="34" charset="-122"/>
                <a:cs typeface="Be Vietnam Pro" pitchFamily="34" charset="-120"/>
              </a:rPr>
              <a:t>ROC-AUC</a:t>
            </a:r>
            <a:endParaRPr lang="en-US" sz="1400" dirty="0"/>
          </a:p>
        </p:txBody>
      </p:sp>
      <p:sp>
        <p:nvSpPr>
          <p:cNvPr id="7" name="Text 5"/>
          <p:cNvSpPr/>
          <p:nvPr/>
        </p:nvSpPr>
        <p:spPr>
          <a:xfrm>
            <a:off x="812800" y="3642364"/>
            <a:ext cx="10883392"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D7E0E8"/>
                </a:solidFill>
                <a:latin typeface="Be Vietnam Pro" pitchFamily="34" charset="0"/>
                <a:ea typeface="Be Vietnam Pro" pitchFamily="34" charset="-122"/>
                <a:cs typeface="Be Vietnam Pro" pitchFamily="34" charset="-120"/>
              </a:rPr>
              <a:t>Lower than validation (AP 0.2769; ROC-AUC 0.8245). Two plausible causes: the validation estimate is optimistic because it rests on about 70 positives and was chosen among 76 configurations; and the test set itself has sampling variation.</a:t>
            </a:r>
            <a:endParaRPr lang="en-US" sz="1400" dirty="0"/>
          </a:p>
        </p:txBody>
      </p:sp>
      <p:sp>
        <p:nvSpPr>
          <p:cNvPr id="8" name="Text 6"/>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CCD"/>
                </a:solidFill>
                <a:latin typeface="Be Vietnam Pro" pitchFamily="34" charset="0"/>
                <a:ea typeface="Be Vietnam Pro" pitchFamily="34" charset="-122"/>
                <a:cs typeface="Be Vietnam Pro" pitchFamily="34" charset="-120"/>
              </a:rPr>
              <a:t>The test set was used once, after all choices were fixed. No confidence intervals are reported for these figures yet.</a:t>
            </a:r>
            <a:endParaRPr lang="en-US" sz="1200" dirty="0"/>
          </a:p>
        </p:txBody>
      </p:sp>
    </p:spTree>
  </p:cSld>
  <p:clrMapOvr>
    <a:masterClrMapping/>
  </p:clrMapOvr>
</p:sld>
</file>

<file path=ppt/theme/theme1.xml><?xml version="1.0" encoding="utf-8"?>
<a:theme xmlns:a="http://schemas.openxmlformats.org/drawingml/2006/main" name="Notebook COIL 2000: overview and future directions">
  <a:themeElements>
    <a:clrScheme name="Notebook COIL 2000: overview and future directions">
      <a:dk1>
        <a:srgbClr val="1D2430"/>
      </a:dk1>
      <a:lt1>
        <a:srgbClr val="F6F5F1"/>
      </a:lt1>
      <a:dk2>
        <a:srgbClr val="535860"/>
      </a:dk2>
      <a:lt2>
        <a:srgbClr val="E0E0DE"/>
      </a:lt2>
      <a:accent1>
        <a:srgbClr val="146C78"/>
      </a:accent1>
      <a:accent2>
        <a:srgbClr val="F0A25A"/>
      </a:accent2>
      <a:accent3>
        <a:srgbClr val="B5651D"/>
      </a:accent3>
      <a:accent4>
        <a:srgbClr val="4F5967"/>
      </a:accent4>
      <a:accent5>
        <a:srgbClr val="A9BCCD"/>
      </a:accent5>
      <a:accent6>
        <a:srgbClr val="D7E0E8"/>
      </a:accent6>
      <a:hlink>
        <a:srgbClr val="0563C1"/>
      </a:hlink>
      <a:folHlink>
        <a:srgbClr val="954F72"/>
      </a:folHlink>
    </a:clrScheme>
    <a:fontScheme name="Notebook COIL 2000: overview and future directions">
      <a:majorFont>
        <a:latin typeface="Be Vietnam Pr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e Vietnam Pr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Notebook COIL 2000: overview and future directions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Be Vietnam Pro
Copyright 2021 The Be Vietnam Pro Project Authors (https://github.com/bettergui/BeVietnamPro),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2026-10-30T04:11:11Z</dcterms:created>
  <dcterms:modified xsi:type="dcterms:W3CDTF">2026-10-30T04:11:11Z</dcterms:modified>
</cp:coreProperties>
</file>